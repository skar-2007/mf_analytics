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F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Bluestock Mutual Fund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Analytics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5A623"/>
                </a:solidFill>
              </a:defRPr>
            </a:pPr>
            <a:r>
              <a:t>End-to-End Data Analytics Project</a:t>
            </a:r>
          </a:p>
          <a:p>
            <a:pPr>
              <a:spcAft>
                <a:spcPts val="800"/>
              </a:spcAft>
              <a:defRPr sz="2000">
                <a:solidFill>
                  <a:srgbClr val="F5A623"/>
                </a:solidFill>
              </a:defRPr>
            </a:pPr>
            <a:r>
              <a:t>SQLite · Python · Plotly · Power BI</a:t>
            </a:r>
          </a:p>
          <a:p>
            <a:pPr>
              <a:spcAft>
                <a:spcPts val="800"/>
              </a:spcAft>
              <a:defRPr sz="2000">
                <a:solidFill>
                  <a:srgbClr val="F5A623"/>
                </a:solidFill>
              </a:defRPr>
            </a:pPr>
            <a: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2F5E"/>
                </a:solidFill>
              </a:defRPr>
            </a:pPr>
            <a:r>
              <a:t>Problem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A2F5E"/>
                </a:solidFill>
              </a:defRPr>
            </a:pPr>
            <a:r>
              <a:t>Problem: Mutual fund data is fragmented across multiple sources with inconsistent formats,</a:t>
            </a:r>
          </a:p>
          <a:p>
            <a:pPr>
              <a:spcAft>
                <a:spcPts val="800"/>
              </a:spcAft>
              <a:defRPr sz="1600">
                <a:solidFill>
                  <a:srgbClr val="0A2F5E"/>
                </a:solidFill>
              </a:defRPr>
            </a:pPr>
            <a:r>
              <a:t>making it difficult for investors and AMCs to get a unified view of performance and risk.</a:t>
            </a:r>
          </a:p>
          <a:p>
            <a:pPr>
              <a:spcAft>
                <a:spcPts val="800"/>
              </a:spcAft>
              <a:defRPr sz="1600">
                <a:solidFill>
                  <a:srgbClr val="0A2F5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A2F5E"/>
                </a:solidFill>
              </a:defRPr>
            </a:pPr>
            <a:r>
              <a:t>7 Objectives:</a:t>
            </a:r>
          </a:p>
          <a:p>
            <a:pPr>
              <a:spcAft>
                <a:spcPts val="800"/>
              </a:spcAft>
              <a:defRPr sz="1600">
                <a:solidFill>
                  <a:srgbClr val="0A2F5E"/>
                </a:solidFill>
              </a:defRPr>
            </a:pPr>
            <a:r>
              <a:t>1. Ingest and clean 10+ MF datasets + live API data</a:t>
            </a:r>
          </a:p>
          <a:p>
            <a:pPr>
              <a:spcAft>
                <a:spcPts val="800"/>
              </a:spcAft>
              <a:defRPr sz="1600">
                <a:solidFill>
                  <a:srgbClr val="0A2F5E"/>
                </a:solidFill>
              </a:defRPr>
            </a:pPr>
            <a:r>
              <a:t>2. Build a SQLite star-schema relational database</a:t>
            </a:r>
          </a:p>
          <a:p>
            <a:pPr>
              <a:spcAft>
                <a:spcPts val="800"/>
              </a:spcAft>
              <a:defRPr sz="1600">
                <a:solidFill>
                  <a:srgbClr val="0A2F5E"/>
                </a:solidFill>
              </a:defRPr>
            </a:pPr>
            <a:r>
              <a:t>3. Produce 15+ EDA charts with annotated insights</a:t>
            </a:r>
          </a:p>
          <a:p>
            <a:pPr>
              <a:spcAft>
                <a:spcPts val="800"/>
              </a:spcAft>
              <a:defRPr sz="1600">
                <a:solidFill>
                  <a:srgbClr val="0A2F5E"/>
                </a:solidFill>
              </a:defRPr>
            </a:pPr>
            <a:r>
              <a:t>4. Compute institutional-grade performance metrics (CAGR, Sharpe, Alpha, Beta, MDD)</a:t>
            </a:r>
          </a:p>
          <a:p>
            <a:pPr>
              <a:spcAft>
                <a:spcPts val="800"/>
              </a:spcAft>
              <a:defRPr sz="1600">
                <a:solidFill>
                  <a:srgbClr val="0A2F5E"/>
                </a:solidFill>
              </a:defRPr>
            </a:pPr>
            <a:r>
              <a:t>5. Deliver a 4-page interactive Power BI dashboard</a:t>
            </a:r>
          </a:p>
          <a:p>
            <a:pPr>
              <a:spcAft>
                <a:spcPts val="800"/>
              </a:spcAft>
              <a:defRPr sz="1600">
                <a:solidFill>
                  <a:srgbClr val="0A2F5E"/>
                </a:solidFill>
              </a:defRPr>
            </a:pPr>
            <a:r>
              <a:t>6. Run advanced risk analytics (VaR, CVaR, cohort, recommender)</a:t>
            </a:r>
          </a:p>
          <a:p>
            <a:pPr>
              <a:spcAft>
                <a:spcPts val="800"/>
              </a:spcAft>
              <a:defRPr sz="1600">
                <a:solidFill>
                  <a:srgbClr val="0A2F5E"/>
                </a:solidFill>
              </a:defRPr>
            </a:pPr>
            <a:r>
              <a:t>7. Package into professional report +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2F5E"/>
                </a:solidFill>
              </a:defRPr>
            </a:pPr>
            <a:r>
              <a:t>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A2F5E"/>
                </a:solidFill>
              </a:defRPr>
            </a:pPr>
            <a:r>
              <a:t>Dataset                    | Format  | Rows     | Period</a:t>
            </a:r>
          </a:p>
          <a:p>
            <a:pPr>
              <a:spcAft>
                <a:spcPts val="800"/>
              </a:spcAft>
              <a:defRPr sz="1400">
                <a:solidFill>
                  <a:srgbClr val="0A2F5E"/>
                </a:solidFill>
              </a:defRPr>
            </a:pPr>
            <a:r>
              <a:t>fund_master.csv            | CSV     | 40       | 2022-2026</a:t>
            </a:r>
          </a:p>
          <a:p>
            <a:pPr>
              <a:spcAft>
                <a:spcPts val="800"/>
              </a:spcAft>
              <a:defRPr sz="1400">
                <a:solidFill>
                  <a:srgbClr val="0A2F5E"/>
                </a:solidFill>
              </a:defRPr>
            </a:pPr>
            <a:r>
              <a:t>nav_history.csv            | CSV     | 64K      | 2022-2026</a:t>
            </a:r>
          </a:p>
          <a:p>
            <a:pPr>
              <a:spcAft>
                <a:spcPts val="800"/>
              </a:spcAft>
              <a:defRPr sz="1400">
                <a:solidFill>
                  <a:srgbClr val="0A2F5E"/>
                </a:solidFill>
              </a:defRPr>
            </a:pPr>
            <a:r>
              <a:t>aum_data.csv               | CSV     | 90       | 2022-2025</a:t>
            </a:r>
          </a:p>
          <a:p>
            <a:pPr>
              <a:spcAft>
                <a:spcPts val="800"/>
              </a:spcAft>
              <a:defRPr sz="1400">
                <a:solidFill>
                  <a:srgbClr val="0A2F5E"/>
                </a:solidFill>
              </a:defRPr>
            </a:pPr>
            <a:r>
              <a:t>investor_transactions.csv  | CSV     | 32K      | 2022-2025</a:t>
            </a:r>
          </a:p>
          <a:p>
            <a:pPr>
              <a:spcAft>
                <a:spcPts val="800"/>
              </a:spcAft>
              <a:defRPr sz="1400">
                <a:solidFill>
                  <a:srgbClr val="0A2F5E"/>
                </a:solidFill>
              </a:defRPr>
            </a:pPr>
            <a:r>
              <a:t>scheme_performance.csv     | CSV     | 40       | Snapshot</a:t>
            </a:r>
          </a:p>
          <a:p>
            <a:pPr>
              <a:spcAft>
                <a:spcPts val="800"/>
              </a:spcAft>
              <a:defRPr sz="1400">
                <a:solidFill>
                  <a:srgbClr val="0A2F5E"/>
                </a:solidFill>
              </a:defRPr>
            </a:pPr>
            <a:r>
              <a:t>portfolio_holdings.csv     | CSV     | 322      | Snapshot</a:t>
            </a:r>
          </a:p>
          <a:p>
            <a:pPr>
              <a:spcAft>
                <a:spcPts val="800"/>
              </a:spcAft>
              <a:defRPr sz="1400">
                <a:solidFill>
                  <a:srgbClr val="0A2F5E"/>
                </a:solidFill>
              </a:defRPr>
            </a:pPr>
            <a:r>
              <a:t>sip_data.csv               | CSV     | 48       | 2022-2025</a:t>
            </a:r>
          </a:p>
          <a:p>
            <a:pPr>
              <a:spcAft>
                <a:spcPts val="800"/>
              </a:spcAft>
              <a:defRPr sz="1400">
                <a:solidFill>
                  <a:srgbClr val="0A2F5E"/>
                </a:solidFill>
              </a:defRPr>
            </a:pPr>
            <a:r>
              <a:t>folio_data.csv             | CSV     | 21       | 2022-2025</a:t>
            </a:r>
          </a:p>
          <a:p>
            <a:pPr>
              <a:spcAft>
                <a:spcPts val="800"/>
              </a:spcAft>
              <a:defRPr sz="1400">
                <a:solidFill>
                  <a:srgbClr val="0A2F5E"/>
                </a:solidFill>
              </a:defRPr>
            </a:pPr>
            <a:r>
              <a:t>benchmark_data.csv         | CSV     | 8K       | 2022-2026</a:t>
            </a:r>
          </a:p>
          <a:p>
            <a:pPr>
              <a:spcAft>
                <a:spcPts val="800"/>
              </a:spcAft>
              <a:defRPr sz="1400">
                <a:solidFill>
                  <a:srgbClr val="0A2F5E"/>
                </a:solidFill>
              </a:defRPr>
            </a:pPr>
            <a:r>
              <a:t>live_nav (API)             | JSON    | ~20K     | Daily live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2F5E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A2F5E"/>
                </a:solidFill>
              </a:defRPr>
            </a:pPr>
            <a:r>
              <a:t>Raw CSVs → data_cleaning.py → Clean CSVs → load_database.py → SQLite DB</a:t>
            </a:r>
          </a:p>
          <a:p>
            <a:pPr>
              <a:spcAft>
                <a:spcPts val="800"/>
              </a:spcAft>
              <a:defRPr sz="1400">
                <a:solidFill>
                  <a:srgbClr val="0A2F5E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0A2F5E"/>
                </a:solidFill>
              </a:defRPr>
            </a:pPr>
            <a:r>
              <a:t>                     ┌─────────────────┐</a:t>
            </a:r>
          </a:p>
          <a:p>
            <a:pPr>
              <a:spcAft>
                <a:spcPts val="800"/>
              </a:spcAft>
              <a:defRPr sz="1400">
                <a:solidFill>
                  <a:srgbClr val="0A2F5E"/>
                </a:solidFill>
              </a:defRPr>
            </a:pPr>
            <a:r>
              <a:t> 10 Raw CSVs ──────→│  Data Cleaning   │──────→ 10 Clean CSVs</a:t>
            </a:r>
          </a:p>
          <a:p>
            <a:pPr>
              <a:spcAft>
                <a:spcPts val="800"/>
              </a:spcAft>
              <a:defRPr sz="1400">
                <a:solidFill>
                  <a:srgbClr val="0A2F5E"/>
                </a:solidFill>
              </a:defRPr>
            </a:pPr>
            <a:r>
              <a:t>                     └─────────────────┘</a:t>
            </a:r>
          </a:p>
          <a:p>
            <a:pPr>
              <a:spcAft>
                <a:spcPts val="800"/>
              </a:spcAft>
              <a:defRPr sz="1400">
                <a:solidFill>
                  <a:srgbClr val="0A2F5E"/>
                </a:solidFill>
              </a:defRPr>
            </a:pPr>
            <a:r>
              <a:t>                              │</a:t>
            </a:r>
          </a:p>
          <a:p>
            <a:pPr>
              <a:spcAft>
                <a:spcPts val="800"/>
              </a:spcAft>
              <a:defRPr sz="1400">
                <a:solidFill>
                  <a:srgbClr val="0A2F5E"/>
                </a:solidFill>
              </a:defRPr>
            </a:pPr>
            <a:r>
              <a:t>                     ┌─────────────────┐</a:t>
            </a:r>
          </a:p>
          <a:p>
            <a:pPr>
              <a:spcAft>
                <a:spcPts val="800"/>
              </a:spcAft>
              <a:defRPr sz="1400">
                <a:solidFill>
                  <a:srgbClr val="0A2F5E"/>
                </a:solidFill>
              </a:defRPr>
            </a:pPr>
            <a:r>
              <a:t>                     │  SQLite Loader   │──────→ bluestock_mf.db</a:t>
            </a:r>
          </a:p>
          <a:p>
            <a:pPr>
              <a:spcAft>
                <a:spcPts val="800"/>
              </a:spcAft>
              <a:defRPr sz="1400">
                <a:solidFill>
                  <a:srgbClr val="0A2F5E"/>
                </a:solidFill>
              </a:defRPr>
            </a:pPr>
            <a:r>
              <a:t>                     └─────────────────┘</a:t>
            </a:r>
          </a:p>
          <a:p>
            <a:pPr>
              <a:spcAft>
                <a:spcPts val="800"/>
              </a:spcAft>
              <a:defRPr sz="1400">
                <a:solidFill>
                  <a:srgbClr val="0A2F5E"/>
                </a:solidFill>
              </a:defRPr>
            </a:pPr>
            <a:r>
              <a:t>                              │</a:t>
            </a:r>
          </a:p>
          <a:p>
            <a:pPr>
              <a:spcAft>
                <a:spcPts val="800"/>
              </a:spcAft>
              <a:defRPr sz="1400">
                <a:solidFill>
                  <a:srgbClr val="0A2F5E"/>
                </a:solidFill>
              </a:defRPr>
            </a:pPr>
            <a:r>
              <a:t>               ┌──────────────┼──────────────┐</a:t>
            </a:r>
          </a:p>
          <a:p>
            <a:pPr>
              <a:spcAft>
                <a:spcPts val="800"/>
              </a:spcAft>
              <a:defRPr sz="1400">
                <a:solidFill>
                  <a:srgbClr val="0A2F5E"/>
                </a:solidFill>
              </a:defRPr>
            </a:pPr>
            <a:r>
              <a:t>               ▼              ▼              ▼</a:t>
            </a:r>
          </a:p>
          <a:p>
            <a:pPr>
              <a:spcAft>
                <a:spcPts val="800"/>
              </a:spcAft>
              <a:defRPr sz="1400">
                <a:solidFill>
                  <a:srgbClr val="0A2F5E"/>
                </a:solidFill>
              </a:defRPr>
            </a:pPr>
            <a:r>
              <a:t>      EDA Notebooks   Performance    Power BI</a:t>
            </a:r>
          </a:p>
          <a:p>
            <a:pPr>
              <a:spcAft>
                <a:spcPts val="800"/>
              </a:spcAft>
              <a:defRPr sz="1400">
                <a:solidFill>
                  <a:srgbClr val="0A2F5E"/>
                </a:solidFill>
              </a:defRPr>
            </a:pPr>
            <a:r>
              <a:t>      (15+ charts)    Metrics       Dashboard</a:t>
            </a:r>
          </a:p>
          <a:p>
            <a:pPr>
              <a:spcAft>
                <a:spcPts val="800"/>
              </a:spcAft>
              <a:defRPr sz="1400">
                <a:solidFill>
                  <a:srgbClr val="0A2F5E"/>
                </a:solidFill>
              </a:defRPr>
            </a:pPr>
            <a:r>
              <a:t>                      (CAGR/Sharpe) (4 pages)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2F5E"/>
                </a:solidFill>
              </a:defRPr>
            </a:pPr>
            <a:r>
              <a:t>EDA Highlights I</a:t>
            </a:r>
          </a:p>
        </p:txBody>
      </p:sp>
      <p:pic>
        <p:nvPicPr>
          <p:cNvPr id="3" name="Picture 2" descr="01_nav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669280" cy="3200400"/>
          </a:xfrm>
          <a:prstGeom prst="rect">
            <a:avLst/>
          </a:prstGeom>
        </p:spPr>
      </p:pic>
      <p:pic>
        <p:nvPicPr>
          <p:cNvPr id="4" name="Picture 3" descr="02_aum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548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A2F5E"/>
                </a:solidFill>
              </a:defRPr>
            </a:pPr>
            <a:r>
              <a:t>NAV Trends (left): All 40 schemes show positive drift. 2023 bull run and 2024 correction highlighted.</a:t>
            </a:r>
          </a:p>
          <a:p>
            <a:pPr>
              <a:spcAft>
                <a:spcPts val="800"/>
              </a:spcAft>
              <a:defRPr sz="1300">
                <a:solidFill>
                  <a:srgbClr val="0A2F5E"/>
                </a:solidFill>
              </a:defRPr>
            </a:pPr>
            <a:r>
              <a:t>AUM by Fund House (right): SBI leads with ₹12.5L Cr — highest by any single AMC.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2F5E"/>
                </a:solidFill>
              </a:defRPr>
            </a:pPr>
            <a:r>
              <a:t>EDA Highlights II</a:t>
            </a:r>
          </a:p>
        </p:txBody>
      </p:sp>
      <p:pic>
        <p:nvPicPr>
          <p:cNvPr id="3" name="Picture 2" descr="03_sip_in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669280" cy="3200400"/>
          </a:xfrm>
          <a:prstGeom prst="rect">
            <a:avLst/>
          </a:prstGeom>
        </p:spPr>
      </p:pic>
      <p:pic>
        <p:nvPicPr>
          <p:cNvPr id="4" name="Picture 3" descr="10_folio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548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A2F5E"/>
                </a:solidFill>
              </a:defRPr>
            </a:pPr>
            <a:r>
              <a:t>SIP Inflows (left): All-time high of ₹31,002 Cr in Dec 2025.</a:t>
            </a:r>
          </a:p>
          <a:p>
            <a:pPr>
              <a:spcAft>
                <a:spcPts val="800"/>
              </a:spcAft>
              <a:defRPr sz="1300">
                <a:solidFill>
                  <a:srgbClr val="0A2F5E"/>
                </a:solidFill>
              </a:defRPr>
            </a:pPr>
            <a:r>
              <a:t>Folio Growth (right): Doubled from 13.26 Cr to 26.12 Cr (2022-2025).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2F5E"/>
                </a:solidFill>
              </a:defRPr>
            </a:pPr>
            <a:r>
              <a:t>Performance Metrics I</a:t>
            </a:r>
          </a:p>
        </p:txBody>
      </p:sp>
      <p:pic>
        <p:nvPicPr>
          <p:cNvPr id="3" name="Picture 2" descr="scorecard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66928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7548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A2F5E"/>
                </a:solidFill>
              </a:defRPr>
            </a:pPr>
            <a:r>
              <a:t>Fund Scorecard: Weighted composite (30% CAGR, 25% Sharpe, 20% Alpha, 15% Expense, 10% Drawdown).</a:t>
            </a:r>
          </a:p>
          <a:p>
            <a:pPr>
              <a:spcAft>
                <a:spcPts val="800"/>
              </a:spcAft>
              <a:defRPr sz="1300">
                <a:solidFill>
                  <a:srgbClr val="0A2F5E"/>
                </a:solidFill>
              </a:defRPr>
            </a:pPr>
            <a:r>
              <a:t>Top funds score &gt;80/100. Scorecard saved to reports/fund_scorecard.csv.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2F5E"/>
                </a:solidFill>
              </a:defRPr>
            </a:pPr>
            <a:r>
              <a:t>Performance Metrics II</a:t>
            </a:r>
          </a:p>
        </p:txBody>
      </p:sp>
      <p:pic>
        <p:nvPicPr>
          <p:cNvPr id="3" name="Picture 2" descr="alpha_beta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669280" cy="3200400"/>
          </a:xfrm>
          <a:prstGeom prst="rect">
            <a:avLst/>
          </a:prstGeom>
        </p:spPr>
      </p:pic>
      <p:pic>
        <p:nvPicPr>
          <p:cNvPr id="4" name="Picture 3" descr="benchmark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548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A2F5E"/>
                </a:solidFill>
              </a:defRPr>
            </a:pPr>
            <a:r>
              <a:t>Alpha-Beta Scatter (left): Bubble size = AUM, color = 3Y return.</a:t>
            </a:r>
          </a:p>
          <a:p>
            <a:pPr>
              <a:spcAft>
                <a:spcPts val="800"/>
              </a:spcAft>
              <a:defRPr sz="1300">
                <a:solidFill>
                  <a:srgbClr val="0A2F5E"/>
                </a:solidFill>
              </a:defRPr>
            </a:pPr>
            <a:r>
              <a:t>Benchmark Comparison (right): Top 5 scorecard funds vs Nifty 50.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2F5E"/>
                </a:solidFill>
              </a:defRPr>
            </a:pPr>
            <a:r>
              <a:t>Dashboard — Pages 1 &amp;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A2F5E"/>
                </a:solidFill>
              </a:defRPr>
            </a:pPr>
            <a:r>
              <a:t>Page 1: Industry Overview — KPI cards, AUM trend, AUM by AMC</a:t>
            </a:r>
          </a:p>
          <a:p>
            <a:pPr>
              <a:spcAft>
                <a:spcPts val="800"/>
              </a:spcAft>
              <a:defRPr sz="1600">
                <a:solidFill>
                  <a:srgbClr val="0A2F5E"/>
                </a:solidFill>
              </a:defRPr>
            </a:pPr>
            <a:r>
              <a:t>Page 2: Fund Performance — Risk-return scatter, scorecard table, NAV vs benchmark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2F5E"/>
                </a:solidFill>
              </a:defRPr>
            </a:pPr>
            <a:r>
              <a:t>Dashboard — Pages 3 &amp;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A2F5E"/>
                </a:solidFill>
              </a:defRPr>
            </a:pPr>
            <a:r>
              <a:t>Page 3: Investor Analytics — SIP by state, transaction donut, age analysis</a:t>
            </a:r>
          </a:p>
          <a:p>
            <a:pPr>
              <a:spcAft>
                <a:spcPts val="800"/>
              </a:spcAft>
              <a:defRPr sz="1600">
                <a:solidFill>
                  <a:srgbClr val="0A2F5E"/>
                </a:solidFill>
              </a:defRPr>
            </a:pPr>
            <a:r>
              <a:t>Page 4: SIP &amp; Market Trends — SIP+Nifty dual-axis, category heatmap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2F5E"/>
                </a:solidFill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A2F5E"/>
                </a:solidFill>
              </a:defRPr>
            </a:pPr>
            <a:r>
              <a:t>1. HDFC and SBI together control 38% of industry AUM</a:t>
            </a:r>
          </a:p>
          <a:p>
            <a:pPr>
              <a:spcAft>
                <a:spcPts val="800"/>
              </a:spcAft>
              <a:defRPr sz="1600">
                <a:solidFill>
                  <a:srgbClr val="0A2F5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A2F5E"/>
                </a:solidFill>
              </a:defRPr>
            </a:pPr>
            <a:r>
              <a:t>2. Monthly SIP inflows grew 180% from ₹11K Cr (2022) to ₹31K Cr (2025)</a:t>
            </a:r>
          </a:p>
          <a:p>
            <a:pPr>
              <a:spcAft>
                <a:spcPts val="800"/>
              </a:spcAft>
              <a:defRPr sz="1600">
                <a:solidFill>
                  <a:srgbClr val="0A2F5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A2F5E"/>
                </a:solidFill>
              </a:defRPr>
            </a:pPr>
            <a:r>
              <a:t>3. Folio count doubled from 13.26 Cr to 26.12 Cr in 4 years</a:t>
            </a:r>
          </a:p>
          <a:p>
            <a:pPr>
              <a:spcAft>
                <a:spcPts val="800"/>
              </a:spcAft>
              <a:defRPr sz="1600">
                <a:solidFill>
                  <a:srgbClr val="0A2F5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A2F5E"/>
                </a:solidFill>
              </a:defRPr>
            </a:pPr>
            <a:r>
              <a:t>4. Large Cap funds show &gt;0.85 pairwise return correlation</a:t>
            </a:r>
          </a:p>
          <a:p>
            <a:pPr>
              <a:spcAft>
                <a:spcPts val="800"/>
              </a:spcAft>
              <a:defRPr sz="1600">
                <a:solidFill>
                  <a:srgbClr val="0A2F5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A2F5E"/>
                </a:solidFill>
              </a:defRPr>
            </a:pPr>
            <a:r>
              <a:t>5. Direct plans outperform Regular plans by 1.2% annually on average</a:t>
            </a:r>
          </a:p>
          <a:p>
            <a:pPr>
              <a:spcAft>
                <a:spcPts val="800"/>
              </a:spcAft>
              <a:defRPr sz="1600">
                <a:solidFill>
                  <a:srgbClr val="0A2F5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A2F5E"/>
                </a:solidFill>
              </a:defRPr>
            </a:pPr>
            <a:r>
              <a:t>6. B30 cities represent 35% of investors but only 22% of AUM</a:t>
            </a:r>
          </a:p>
          <a:p>
            <a:pPr>
              <a:spcAft>
                <a:spcPts val="800"/>
              </a:spcAft>
              <a:defRPr sz="1600">
                <a:solidFill>
                  <a:srgbClr val="0A2F5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A2F5E"/>
                </a:solidFill>
              </a:defRPr>
            </a:pPr>
            <a:r>
              <a:t>7. Financial Services dominates equity sector allocation at 32%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F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828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2004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5A623"/>
                </a:solidFill>
              </a:defRPr>
            </a:pPr>
            <a:r>
              <a:t>Bluestock Mutual Fund Analytics Capstone</a:t>
            </a:r>
          </a:p>
          <a:p>
            <a:pPr>
              <a:spcAft>
                <a:spcPts val="800"/>
              </a:spcAft>
              <a:defRPr sz="2000">
                <a:solidFill>
                  <a:srgbClr val="F5A62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F5A623"/>
                </a:solidFill>
              </a:defRPr>
            </a:pPr>
            <a:r>
              <a:t>GitHub: github.com/&lt;username&gt;/bluestock_mf_capstone</a:t>
            </a:r>
          </a:p>
          <a:p>
            <a:pPr>
              <a:spcAft>
                <a:spcPts val="800"/>
              </a:spcAft>
              <a:defRPr sz="2000">
                <a:solidFill>
                  <a:srgbClr val="F5A62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F5A623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